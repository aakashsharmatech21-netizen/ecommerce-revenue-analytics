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2010 Revenue (£k)</c:v>
                </c:pt>
              </c:strCache>
            </c:strRef>
          </c:tx>
          <c:spPr>
            <a:solidFill>
              <a:srgbClr val="14B8A6"/>
            </a:solidFill>
            <a:ln w="3175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520</c:v>
                </c:pt>
                <c:pt idx="1">
                  <c:v>610</c:v>
                </c:pt>
                <c:pt idx="2">
                  <c:v>780</c:v>
                </c:pt>
                <c:pt idx="3">
                  <c:v>900</c:v>
                </c:pt>
                <c:pt idx="4">
                  <c:v>1120</c:v>
                </c:pt>
                <c:pt idx="5">
                  <c:v>480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2011 Revenue (£k)</c:v>
                </c:pt>
              </c:strCache>
            </c:strRef>
          </c:tx>
          <c:spPr>
            <a:solidFill>
              <a:srgbClr val="5EEAD4"/>
            </a:solidFill>
            <a:ln w="31750" cap="flat">
              <a:solidFill>
                <a:srgbClr val="5EEA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EEAD4"/>
              </a:solidFill>
              <a:ln w="9525" cap="flat">
                <a:solidFill>
                  <a:srgbClr val="5EEA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560</c:v>
                </c:pt>
                <c:pt idx="1">
                  <c:v>640</c:v>
                </c:pt>
                <c:pt idx="2">
                  <c:v>820</c:v>
                </c:pt>
                <c:pt idx="3">
                  <c:v>950</c:v>
                </c:pt>
                <c:pt idx="4">
                  <c:v>1080</c:v>
                </c:pt>
                <c:pt idx="5">
                  <c:v>260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0F233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0F233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C93A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C93AC"/>
                    </a:solidFill>
                    <a:latin typeface="Arial"/>
                  </a:rPr>
                  <a:t>Revenue (£k)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0F233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A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FB3C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A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347472" cy="914400"/>
          </a:xfrm>
          <a:prstGeom prst="roundRect">
            <a:avLst>
              <a:gd name="adj" fmla="val 15789"/>
            </a:avLst>
          </a:prstGeom>
          <a:solidFill>
            <a:srgbClr val="0F233F"/>
          </a:solidFill>
          <a:ln/>
        </p:spPr>
      </p:sp>
      <p:sp>
        <p:nvSpPr>
          <p:cNvPr id="3" name="Shape 1"/>
          <p:cNvSpPr/>
          <p:nvPr/>
        </p:nvSpPr>
        <p:spPr>
          <a:xfrm>
            <a:off x="9921240" y="3566160"/>
            <a:ext cx="347472" cy="1554480"/>
          </a:xfrm>
          <a:prstGeom prst="roundRect">
            <a:avLst>
              <a:gd name="adj" fmla="val 15789"/>
            </a:avLst>
          </a:prstGeom>
          <a:solidFill>
            <a:srgbClr val="0E7C74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023360"/>
            <a:ext cx="347472" cy="1097280"/>
          </a:xfrm>
          <a:prstGeom prst="roundRect">
            <a:avLst>
              <a:gd name="adj" fmla="val 15789"/>
            </a:avLst>
          </a:prstGeom>
          <a:solidFill>
            <a:srgbClr val="0F233F"/>
          </a:solidFill>
          <a:ln/>
        </p:spPr>
      </p:sp>
      <p:sp>
        <p:nvSpPr>
          <p:cNvPr id="5" name="Shape 3"/>
          <p:cNvSpPr/>
          <p:nvPr/>
        </p:nvSpPr>
        <p:spPr>
          <a:xfrm>
            <a:off x="10927080" y="2834640"/>
            <a:ext cx="347472" cy="2286000"/>
          </a:xfrm>
          <a:prstGeom prst="roundRect">
            <a:avLst>
              <a:gd name="adj" fmla="val 15789"/>
            </a:avLst>
          </a:prstGeom>
          <a:solidFill>
            <a:srgbClr val="14B8A6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3749040"/>
            <a:ext cx="347472" cy="1371600"/>
          </a:xfrm>
          <a:prstGeom prst="roundRect">
            <a:avLst>
              <a:gd name="adj" fmla="val 15789"/>
            </a:avLst>
          </a:prstGeom>
          <a:solidFill>
            <a:srgbClr val="0F233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0" y="5120640"/>
            <a:ext cx="2834640" cy="0"/>
          </a:xfrm>
          <a:prstGeom prst="line">
            <a:avLst/>
          </a:prstGeom>
          <a:noFill/>
          <a:ln w="12700">
            <a:solidFill>
              <a:srgbClr val="7C93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Revenue Drivers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Online Retail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10058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204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wants to know which customers, products, and countries drive the most revenue — and where performance gaps, such as high cancellation rates or weak markets, are limiting growth. This analysis uses real transactional data from a UK-based online retail store to uncover actionable business insights.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25912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1229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Retail II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 — a credible academic data source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3017520" cy="0"/>
          </a:xfrm>
          <a:prstGeom prst="line">
            <a:avLst/>
          </a:prstGeom>
          <a:noFill/>
          <a:ln w="19050">
            <a:solidFill>
              <a:srgbClr val="0F23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COVERED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 2009 – Dec 2011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3017520" cy="0"/>
          </a:xfrm>
          <a:prstGeom prst="line">
            <a:avLst/>
          </a:prstGeom>
          <a:noFill/>
          <a:ln w="19050">
            <a:solidFill>
              <a:srgbClr val="0F23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34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PROCESSED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FB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1,067,371</a:t>
            </a:r>
            <a:pPr indent="0" marL="0">
              <a:buNone/>
            </a:pPr>
            <a:r>
              <a:rPr lang="en-US" sz="12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raw records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797,815</a:t>
            </a:r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clean records used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" y="5486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removing invalid and incomplete entries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1737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2057400"/>
            <a:ext cx="502920" cy="50292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420624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20624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analysis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40880" y="2057400"/>
            <a:ext cx="502920" cy="50292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672084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72084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organization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555480" y="2057400"/>
            <a:ext cx="502920" cy="50292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26" name="Text 24"/>
          <p:cNvSpPr/>
          <p:nvPr/>
        </p:nvSpPr>
        <p:spPr>
          <a:xfrm>
            <a:off x="95554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923544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Looker Studio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23544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26280" y="3611880"/>
            <a:ext cx="7132320" cy="0"/>
          </a:xfrm>
          <a:prstGeom prst="line">
            <a:avLst/>
          </a:prstGeom>
          <a:noFill/>
          <a:ln w="19050">
            <a:solidFill>
              <a:srgbClr val="0F23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3794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CLEANING STEPS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26280" y="4215384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408736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rows with missing Customer ID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26280" y="4636008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450799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transactions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26280" y="5056632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492861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zero-price entries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26280" y="5477256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53492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(not deleted) cancelled orders and quantity outliers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26280" y="589788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576986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Revenue field (Quantity × Price)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725912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Management Should Know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12294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08760" y="2350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71576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generates £13.48M — about 23x more than the next country (EIRE, £573,098).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12294A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1965960"/>
            <a:ext cx="502920" cy="50292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7269480" y="18562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77.38%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269480" y="2350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FROM TOP 20%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0" y="271576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1,187 customers (top 20%) generate 77.38% of total revenue — a strong Pareto (80/20) pattern.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1229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3886200"/>
            <a:ext cx="502920" cy="50292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1508760" y="37764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£1.12M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508760" y="4270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MONTHLY REVENUE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46360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consistently peaks every September–November (holiday season), topping £1.12M in November, in both 2010 and 2011.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361188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12294A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3886200"/>
            <a:ext cx="502920" cy="50292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7269480" y="37764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2.31%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269480" y="4270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0" y="46360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order cancellation rate is 2.31%; the UK has the highest absolute cancellation loss at −£906,729.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0E7C74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532120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products:  </a:t>
            </a:r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“Regency Cakestand 3 Tier” (£261,110)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</a:t>
            </a:r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“White Hanging Heart T-Light Holder” (£237,678)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725912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Surprising Finding: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December Revenue Drop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expected December — Christmas month — to be the highest-revenue month. Instead, it consistently came in lower than September–November, both years.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3108960"/>
          <a:ext cx="6309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69480" y="1737360"/>
            <a:ext cx="4389120" cy="4389120"/>
          </a:xfrm>
          <a:prstGeom prst="roundRect">
            <a:avLst>
              <a:gd name="adj" fmla="val 2083"/>
            </a:avLst>
          </a:prstGeom>
          <a:solidFill>
            <a:srgbClr val="12294A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DECEMBER LOOKS LOW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43800" y="2377440"/>
            <a:ext cx="457200" cy="45720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9" name="Text 6"/>
          <p:cNvSpPr/>
          <p:nvPr/>
        </p:nvSpPr>
        <p:spPr>
          <a:xfrm>
            <a:off x="75438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2377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gift-buying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138160" y="26974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place Christmas orders in Oct–Nov to guarantee delivery before the holidays.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543800" y="3611880"/>
            <a:ext cx="457200" cy="45720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38160" y="3611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data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138160" y="393192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2011 data ends on the 9th — artificially lowering that month's total.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543800" y="4892040"/>
            <a:ext cx="3840480" cy="0"/>
          </a:xfrm>
          <a:prstGeom prst="line">
            <a:avLst/>
          </a:prstGeom>
          <a:noFill/>
          <a:ln w="19050">
            <a:solidFill>
              <a:srgbClr val="0F233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43800" y="5074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always verify data completeness before drawing conclusions.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725912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Management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83864" cy="4114800"/>
          </a:xfrm>
          <a:prstGeom prst="roundRect">
            <a:avLst>
              <a:gd name="adj" fmla="val 2625"/>
            </a:avLst>
          </a:prstGeom>
          <a:solidFill>
            <a:srgbClr val="12294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3319272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 loyalty / retention program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77% of revenue generated by the top 20% of customers.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5349240"/>
            <a:ext cx="2843784" cy="0"/>
          </a:xfrm>
          <a:prstGeom prst="line">
            <a:avLst/>
          </a:prstGeom>
          <a:noFill/>
          <a:ln w="15240">
            <a:solidFill>
              <a:srgbClr val="0F2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4864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cost, high impact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52544" y="1874520"/>
            <a:ext cx="3483864" cy="4114800"/>
          </a:xfrm>
          <a:prstGeom prst="roundRect">
            <a:avLst>
              <a:gd name="adj" fmla="val 2625"/>
            </a:avLst>
          </a:prstGeom>
          <a:solidFill>
            <a:srgbClr val="1229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72584" y="2194560"/>
            <a:ext cx="640080" cy="64008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14" name="Text 12"/>
          <p:cNvSpPr/>
          <p:nvPr/>
        </p:nvSpPr>
        <p:spPr>
          <a:xfrm>
            <a:off x="467258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72584" y="301752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PRIORITY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72584" y="3319272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inventory &amp; marketing from August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672584" y="416052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ahead of the proven September–November sales peak to avoid stockouts.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72584" y="5349240"/>
            <a:ext cx="2843784" cy="0"/>
          </a:xfrm>
          <a:prstGeom prst="line">
            <a:avLst/>
          </a:prstGeom>
          <a:noFill/>
          <a:ln w="15240">
            <a:solidFill>
              <a:srgbClr val="0F23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54864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seasonal pattern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56448" y="1874520"/>
            <a:ext cx="3483864" cy="4114800"/>
          </a:xfrm>
          <a:prstGeom prst="roundRect">
            <a:avLst>
              <a:gd name="adj" fmla="val 2625"/>
            </a:avLst>
          </a:prstGeom>
          <a:solidFill>
            <a:srgbClr val="12294A"/>
          </a:solidFill>
          <a:ln/>
        </p:spPr>
      </p:sp>
      <p:sp>
        <p:nvSpPr>
          <p:cNvPr id="21" name="Shape 19"/>
          <p:cNvSpPr/>
          <p:nvPr/>
        </p:nvSpPr>
        <p:spPr>
          <a:xfrm>
            <a:off x="8476488" y="2194560"/>
            <a:ext cx="640080" cy="64008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22" name="Text 20"/>
          <p:cNvSpPr/>
          <p:nvPr/>
        </p:nvSpPr>
        <p:spPr>
          <a:xfrm>
            <a:off x="847648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476488" y="301752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PRIORITY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76488" y="3319272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UK cancellation causes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476488" y="416052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product quality or delivery issues to recover lost revenue.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476488" y="5349240"/>
            <a:ext cx="2843784" cy="0"/>
          </a:xfrm>
          <a:prstGeom prst="line">
            <a:avLst/>
          </a:prstGeom>
          <a:noFill/>
          <a:ln w="15240">
            <a:solidFill>
              <a:srgbClr val="0F23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76488" y="54864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further investigation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25912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SUCCESS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Success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83864" cy="3200400"/>
          </a:xfrm>
          <a:prstGeom prst="roundRect">
            <a:avLst>
              <a:gd name="adj" fmla="val 2857"/>
            </a:avLst>
          </a:prstGeom>
          <a:solidFill>
            <a:srgbClr val="12294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554480" y="2176272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Program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3035808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89864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694176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57016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rate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352544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215384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from top 20% over time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52544" y="1828800"/>
            <a:ext cx="3483864" cy="3200400"/>
          </a:xfrm>
          <a:prstGeom prst="roundRect">
            <a:avLst>
              <a:gd name="adj" fmla="val 2857"/>
            </a:avLst>
          </a:prstGeom>
          <a:solidFill>
            <a:srgbClr val="12294A"/>
          </a:solidFill>
          <a:ln/>
        </p:spPr>
      </p:sp>
      <p:sp>
        <p:nvSpPr>
          <p:cNvPr id="15" name="Shape 13"/>
          <p:cNvSpPr/>
          <p:nvPr/>
        </p:nvSpPr>
        <p:spPr>
          <a:xfrm>
            <a:off x="4672584" y="2148840"/>
            <a:ext cx="548640" cy="54864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16" name="Text 14"/>
          <p:cNvSpPr/>
          <p:nvPr/>
        </p:nvSpPr>
        <p:spPr>
          <a:xfrm>
            <a:off x="467258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5358384" y="2176272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Planning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72584" y="3035808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4901184" y="289864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stockout rate, Sep–Nov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72584" y="3694176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4901184" y="3557016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revenue growth in that period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56448" y="1828800"/>
            <a:ext cx="3483864" cy="3200400"/>
          </a:xfrm>
          <a:prstGeom prst="roundRect">
            <a:avLst>
              <a:gd name="adj" fmla="val 2857"/>
            </a:avLst>
          </a:prstGeom>
          <a:solidFill>
            <a:srgbClr val="12294A"/>
          </a:solidFill>
          <a:ln/>
        </p:spPr>
      </p:sp>
      <p:sp>
        <p:nvSpPr>
          <p:cNvPr id="23" name="Shape 21"/>
          <p:cNvSpPr/>
          <p:nvPr/>
        </p:nvSpPr>
        <p:spPr>
          <a:xfrm>
            <a:off x="8476488" y="2148840"/>
            <a:ext cx="548640" cy="54864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24" name="Text 22"/>
          <p:cNvSpPr/>
          <p:nvPr/>
        </p:nvSpPr>
        <p:spPr>
          <a:xfrm>
            <a:off x="8476488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560" dirty="0"/>
          </a:p>
        </p:txBody>
      </p:sp>
      <p:sp>
        <p:nvSpPr>
          <p:cNvPr id="25" name="Text 23"/>
          <p:cNvSpPr/>
          <p:nvPr/>
        </p:nvSpPr>
        <p:spPr>
          <a:xfrm>
            <a:off x="9162288" y="2176272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 Investigation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476488" y="3035808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8705088" y="2898648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cancellation rate trend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476488" y="3694176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9" name="Text 27"/>
          <p:cNvSpPr/>
          <p:nvPr/>
        </p:nvSpPr>
        <p:spPr>
          <a:xfrm>
            <a:off x="8705088" y="3557016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cancellation revenue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E7C74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413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EXPECTED IMPACT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68680" y="56692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and grow the majority revenue base, while reducing avoidable revenue loss from cancellations.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725912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Be Cautious About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4344" cy="2331720"/>
          </a:xfrm>
          <a:prstGeom prst="roundRect">
            <a:avLst>
              <a:gd name="adj" fmla="val 3922"/>
            </a:avLst>
          </a:prstGeom>
          <a:solidFill>
            <a:srgbClr val="12294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scope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44952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UK-based retailer over a fixed 2-year period — findings may not generalize.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7304" y="1783080"/>
            <a:ext cx="3514344" cy="2331720"/>
          </a:xfrm>
          <a:prstGeom prst="roundRect">
            <a:avLst>
              <a:gd name="adj" fmla="val 3922"/>
            </a:avLst>
          </a:prstGeom>
          <a:solidFill>
            <a:srgbClr val="12294A"/>
          </a:solidFill>
          <a:ln/>
        </p:spPr>
      </p:sp>
      <p:sp>
        <p:nvSpPr>
          <p:cNvPr id="10" name="Shape 8"/>
          <p:cNvSpPr/>
          <p:nvPr/>
        </p:nvSpPr>
        <p:spPr>
          <a:xfrm>
            <a:off x="4611624" y="2057400"/>
            <a:ext cx="457200" cy="45720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11" name="Text 9"/>
          <p:cNvSpPr/>
          <p:nvPr/>
        </p:nvSpPr>
        <p:spPr>
          <a:xfrm>
            <a:off x="461162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1624" y="269748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profit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1624" y="3044952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or margin data available. Insights are revenue-based, not profitability-based.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5968" y="1783080"/>
            <a:ext cx="3514344" cy="2331720"/>
          </a:xfrm>
          <a:prstGeom prst="roundRect">
            <a:avLst>
              <a:gd name="adj" fmla="val 3922"/>
            </a:avLst>
          </a:prstGeom>
          <a:solidFill>
            <a:srgbClr val="12294A"/>
          </a:solidFill>
          <a:ln/>
        </p:spPr>
      </p:sp>
      <p:sp>
        <p:nvSpPr>
          <p:cNvPr id="15" name="Shape 13"/>
          <p:cNvSpPr/>
          <p:nvPr/>
        </p:nvSpPr>
        <p:spPr>
          <a:xfrm>
            <a:off x="8400288" y="2057400"/>
            <a:ext cx="457200" cy="457200"/>
          </a:xfrm>
          <a:prstGeom prst="ellipse">
            <a:avLst/>
          </a:prstGeom>
          <a:solidFill>
            <a:srgbClr val="0E7C74"/>
          </a:solidFill>
          <a:ln/>
        </p:spPr>
      </p:sp>
      <p:sp>
        <p:nvSpPr>
          <p:cNvPr id="16" name="Text 14"/>
          <p:cNvSpPr/>
          <p:nvPr/>
        </p:nvSpPr>
        <p:spPr>
          <a:xfrm>
            <a:off x="840028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00288" y="269748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customer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00288" y="3044952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~23% of transactions had no Customer ID and were excluded from customer-level insights.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91672" cy="1874520"/>
          </a:xfrm>
          <a:prstGeom prst="roundRect">
            <a:avLst>
              <a:gd name="adj" fmla="val 4878"/>
            </a:avLst>
          </a:prstGeom>
          <a:solidFill>
            <a:srgbClr val="0F233F"/>
          </a:solidFill>
          <a:ln w="15875">
            <a:solidFill>
              <a:srgbClr val="0E7C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8920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48463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cost / margin data to convert revenue insights into profitability insights.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0" y="48920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48463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cancellation root causes at the product level.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725912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Data Analysis Project</dc:creator>
  <cp:lastModifiedBy>Data Analysis Project</cp:lastModifiedBy>
  <cp:revision>1</cp:revision>
  <dcterms:created xsi:type="dcterms:W3CDTF">2026-09-11T13:40:02Z</dcterms:created>
  <dcterms:modified xsi:type="dcterms:W3CDTF">2026-09-11T13:40:02Z</dcterms:modified>
</cp:coreProperties>
</file>